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6858000" cx="12192000"/>
  <p:notesSz cx="6858000" cy="9144000"/>
  <p:embeddedFontLst>
    <p:embeddedFont>
      <p:font typeface="Robo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1483D4-383B-4A7F-AB83-563176931985}">
  <a:tblStyle styleId="{D61483D4-383B-4A7F-AB83-563176931985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italic.fntdata"/><Relationship Id="rId12" Type="http://schemas.openxmlformats.org/officeDocument/2006/relationships/slide" Target="slides/slide6.xml"/><Relationship Id="rId34" Type="http://schemas.openxmlformats.org/officeDocument/2006/relationships/font" Target="fonts/Robo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b88b8ed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ab88b8e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9ab88b8edb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b88b8edb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ab88b8ed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9ab88b8edb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b88b8edb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ab88b8ed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ab88b8edb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ab88b8edb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ab88b8ed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ab88b8edb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ab88b8edb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ab88b8ed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9ab88b8edb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b88b8edb_0_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ab88b8ed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9ab88b8edb_0_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ab88b8edb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ab88b8ed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9ab88b8edb_0_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ab88b8edb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ab88b8ed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9ab88b8edb_0_1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ab88b8edb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ab88b8ed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9ab88b8edb_0_4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ab88b8edb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ab88b8ed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9ab88b8edb_0_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ab88b8edb_0_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ab88b8ed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9ab88b8edb_0_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ab88b8edb_0_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9ab88b8ed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9ab88b8edb_0_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9ab88b8edb_0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9ab88b8edb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9ab88b8edb_0_2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ab88b8edb_0_1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ab88b8ed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g39ab88b8edb_0_1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ab88b8edb_0_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ab88b8ed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9ab88b8edb_0_1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ab88b8edb_0_1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9ab88b8edb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9ab88b8edb_0_1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ab88b8edb_0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9ab88b8edb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9ab88b8edb_0_1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9ab88b8edb_0_1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9ab88b8edb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9ab88b8edb_0_1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9ab88b8edb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9ab88b8ed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9ab88b8edb_0_2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508000" y="0"/>
            <a:ext cx="812800" cy="6858000"/>
          </a:xfrm>
          <a:prstGeom prst="rect">
            <a:avLst/>
          </a:prstGeom>
          <a:solidFill>
            <a:srgbClr val="EAEAF3">
              <a:alpha val="5294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320800" y="0"/>
            <a:ext cx="242888" cy="6858000"/>
          </a:xfrm>
          <a:prstGeom prst="rect">
            <a:avLst/>
          </a:prstGeom>
          <a:solidFill>
            <a:srgbClr val="EAEAF3">
              <a:alpha val="6901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522413" y="0"/>
            <a:ext cx="306387" cy="6858000"/>
          </a:xfrm>
          <a:prstGeom prst="rect">
            <a:avLst/>
          </a:prstGeom>
          <a:solidFill>
            <a:srgbClr val="EAEAF3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2"/>
          <p:cNvCxnSpPr/>
          <p:nvPr/>
        </p:nvCxnSpPr>
        <p:spPr>
          <a:xfrm>
            <a:off x="141288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EAEAF3">
                <a:alpha val="7176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"/>
          <p:cNvCxnSpPr/>
          <p:nvPr/>
        </p:nvCxnSpPr>
        <p:spPr>
          <a:xfrm>
            <a:off x="12192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EAEAF3">
                <a:alpha val="8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2"/>
          <p:cNvCxnSpPr/>
          <p:nvPr/>
        </p:nvCxnSpPr>
        <p:spPr>
          <a:xfrm>
            <a:off x="1138238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EAEA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2"/>
          <p:cNvCxnSpPr/>
          <p:nvPr/>
        </p:nvCxnSpPr>
        <p:spPr>
          <a:xfrm>
            <a:off x="2303463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EAEAF3">
                <a:alpha val="8078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2"/>
          <p:cNvCxnSpPr/>
          <p:nvPr/>
        </p:nvCxnSpPr>
        <p:spPr>
          <a:xfrm>
            <a:off x="1422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2"/>
          <p:cNvCxnSpPr/>
          <p:nvPr/>
        </p:nvCxnSpPr>
        <p:spPr>
          <a:xfrm>
            <a:off x="12152313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EAEA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2"/>
          <p:cNvSpPr/>
          <p:nvPr/>
        </p:nvSpPr>
        <p:spPr>
          <a:xfrm>
            <a:off x="1625600" y="0"/>
            <a:ext cx="101600" cy="6858000"/>
          </a:xfrm>
          <a:prstGeom prst="rect">
            <a:avLst/>
          </a:prstGeom>
          <a:solidFill>
            <a:srgbClr val="5C7AE1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746250" y="4867275"/>
            <a:ext cx="550863" cy="550863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454150" y="5500688"/>
            <a:ext cx="144463" cy="144462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185988" y="5759450"/>
            <a:ext cx="252412" cy="252413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11250" y="4551363"/>
            <a:ext cx="307975" cy="315912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1165225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2"/>
          <p:cNvCxnSpPr/>
          <p:nvPr/>
        </p:nvCxnSpPr>
        <p:spPr>
          <a:xfrm>
            <a:off x="407988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EAEAF3">
                <a:alpha val="8078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 txBox="1"/>
          <p:nvPr>
            <p:ph type="ctrTitle"/>
          </p:nvPr>
        </p:nvSpPr>
        <p:spPr>
          <a:xfrm>
            <a:off x="3048000" y="3124200"/>
            <a:ext cx="8229600" cy="1894362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"/>
          <p:cNvSpPr txBox="1"/>
          <p:nvPr>
            <p:ph idx="1" type="subTitle"/>
          </p:nvPr>
        </p:nvSpPr>
        <p:spPr>
          <a:xfrm>
            <a:off x="3048000" y="5003322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rgbClr val="5C7AE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24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9" name="Google Shape;39;p2"/>
          <p:cNvSpPr txBox="1"/>
          <p:nvPr>
            <p:ph idx="12" type="sldNum"/>
          </p:nvPr>
        </p:nvSpPr>
        <p:spPr>
          <a:xfrm>
            <a:off x="1757363" y="4868863"/>
            <a:ext cx="522287" cy="522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"/>
          <p:cNvSpPr txBox="1"/>
          <p:nvPr>
            <p:ph idx="1" type="body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Char char="?"/>
              <a:defRPr/>
            </a:lvl1pPr>
            <a:lvl2pPr indent="-32004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3pPr>
            <a:lvl4pPr indent="-29718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?"/>
              <a:defRPr/>
            </a:lvl4pPr>
            <a:lvl5pPr indent="-306324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/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11684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5C7AE1">
                <a:alpha val="9176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1"/>
          <p:cNvSpPr txBox="1"/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small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09600" y="1600200"/>
            <a:ext cx="99568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004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471A6"/>
              </a:buClr>
              <a:buSzPts val="144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B2C1DB"/>
              </a:buClr>
              <a:buSzPts val="1200"/>
              <a:buFont typeface="Noto Sans Symbols"/>
              <a:buChar char="🞆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97688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DCB3B2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Times New Roman"/>
              <a:buChar char="•"/>
              <a:defRPr b="0" i="0" sz="16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8194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B1C0DA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Times New Roman"/>
              <a:buChar char="•"/>
              <a:defRPr b="0" i="0" sz="1400" u="none" cap="small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4571A5"/>
              </a:buClr>
              <a:buSzPts val="1400"/>
              <a:buFont typeface="Times New Roman"/>
              <a:buChar char="•"/>
              <a:defRPr b="0" i="0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cxnSp>
        <p:nvCxnSpPr>
          <p:cNvPr id="13" name="Google Shape;13;p1"/>
          <p:cNvCxnSpPr/>
          <p:nvPr/>
        </p:nvCxnSpPr>
        <p:spPr>
          <a:xfrm>
            <a:off x="101600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119888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1"/>
          <p:cNvSpPr/>
          <p:nvPr/>
        </p:nvSpPr>
        <p:spPr>
          <a:xfrm>
            <a:off x="11785600" y="0"/>
            <a:ext cx="406400" cy="6858000"/>
          </a:xfrm>
          <a:prstGeom prst="rect">
            <a:avLst/>
          </a:prstGeom>
          <a:solidFill>
            <a:srgbClr val="EAEAF3">
              <a:alpha val="8588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16;p1"/>
          <p:cNvCxnSpPr/>
          <p:nvPr/>
        </p:nvCxnSpPr>
        <p:spPr>
          <a:xfrm>
            <a:off x="118872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5C7AE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"/>
          <p:cNvSpPr/>
          <p:nvPr/>
        </p:nvSpPr>
        <p:spPr>
          <a:xfrm>
            <a:off x="10960100" y="6073775"/>
            <a:ext cx="550863" cy="550863"/>
          </a:xfrm>
          <a:prstGeom prst="ellipse">
            <a:avLst/>
          </a:prstGeom>
          <a:solidFill>
            <a:srgbClr val="5C7A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 txBox="1"/>
          <p:nvPr>
            <p:ph idx="12" type="sldNum"/>
          </p:nvPr>
        </p:nvSpPr>
        <p:spPr>
          <a:xfrm>
            <a:off x="10974388" y="6092825"/>
            <a:ext cx="522287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19" name="Google Shape;1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-5400000">
            <a:off x="11583194" y="6133307"/>
            <a:ext cx="920750" cy="2968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 txBox="1"/>
          <p:nvPr>
            <p:ph type="ctrTitle"/>
          </p:nvPr>
        </p:nvSpPr>
        <p:spPr>
          <a:xfrm>
            <a:off x="3364700" y="1692263"/>
            <a:ext cx="7429500" cy="6603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5554"/>
              <a:buNone/>
            </a:pPr>
            <a:r>
              <a:rPr lang="ru-RU" sz="2800">
                <a:solidFill>
                  <a:srgbClr val="1D2F6A"/>
                </a:solidFill>
              </a:rPr>
              <a:t>Методика обнаружения несанкционированных действий и аномальной активности в корпоративной сети с использованием нейронных сетей</a:t>
            </a:r>
            <a:endParaRPr/>
          </a:p>
        </p:txBody>
      </p:sp>
      <p:sp>
        <p:nvSpPr>
          <p:cNvPr id="55" name="Google Shape;55;p6"/>
          <p:cNvSpPr txBox="1"/>
          <p:nvPr>
            <p:ph idx="1" type="subTitle"/>
          </p:nvPr>
        </p:nvSpPr>
        <p:spPr>
          <a:xfrm>
            <a:off x="3705713" y="2640025"/>
            <a:ext cx="6749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lang="ru-RU" sz="2800"/>
              <a:t>Научно-исследовательская работа</a:t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sz="2800">
              <a:solidFill>
                <a:srgbClr val="1D2F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2662238" y="4221163"/>
            <a:ext cx="4321175" cy="739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None/>
            </a:pPr>
            <a:r>
              <a:rPr b="1" i="0" lang="ru-RU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Автор:</a:t>
            </a:r>
            <a:br>
              <a:rPr b="1" i="0" lang="ru-RU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ru-RU" sz="22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Титов Дмитрий Иванович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955800" y="101600"/>
            <a:ext cx="1392238" cy="139223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4062D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815977" y="1692275"/>
            <a:ext cx="1671900" cy="1589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rgbClr val="4062D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 txBox="1"/>
          <p:nvPr/>
        </p:nvSpPr>
        <p:spPr>
          <a:xfrm>
            <a:off x="2662238" y="5065713"/>
            <a:ext cx="7429500" cy="884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Font typeface="Noto Sans Symbols"/>
              <a:buNone/>
            </a:pPr>
            <a:r>
              <a:rPr b="1" i="0" lang="ru-RU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C7AE1"/>
              </a:buClr>
              <a:buSzPts val="1760"/>
              <a:buFont typeface="Noto Sans Symbols"/>
              <a:buNone/>
            </a:pPr>
            <a:r>
              <a:rPr b="1" i="0" lang="ru-RU" sz="2200" u="none" cap="none" strike="noStrike">
                <a:solidFill>
                  <a:srgbClr val="5C7AE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Ланской  Даниил Петрович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6"/>
          <p:cNvSpPr txBox="1"/>
          <p:nvPr/>
        </p:nvSpPr>
        <p:spPr>
          <a:xfrm>
            <a:off x="4919663" y="6308725"/>
            <a:ext cx="4319587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9B2"/>
              </a:buClr>
              <a:buSzPts val="1600"/>
              <a:buFont typeface="Noto Sans Symbols"/>
              <a:buNone/>
            </a:pPr>
            <a:r>
              <a:rPr b="0" i="0" lang="ru-RU" sz="20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Москва 202</a:t>
            </a:r>
            <a:r>
              <a:rPr lang="ru-RU" sz="20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0" lang="ru-RU" sz="20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6"/>
          <p:cNvSpPr txBox="1"/>
          <p:nvPr/>
        </p:nvSpPr>
        <p:spPr>
          <a:xfrm>
            <a:off x="3496413" y="18950"/>
            <a:ext cx="71661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Федеральное государственное автономное образовательное учреждение</a:t>
            </a:r>
            <a:endParaRPr b="0" i="0" sz="1600" u="none" cap="none" strike="noStrike">
              <a:solidFill>
                <a:srgbClr val="AAA9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высшего образования «Национальный исследовательский ядерный</a:t>
            </a:r>
            <a:endParaRPr b="0" i="0" sz="1600" u="none" cap="none" strike="noStrike">
              <a:solidFill>
                <a:srgbClr val="AAA9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университет «МИФИ»</a:t>
            </a:r>
            <a:endParaRPr b="0" i="0" sz="1600" u="none" cap="none" strike="noStrike">
              <a:solidFill>
                <a:srgbClr val="AAA9B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1" i="0" sz="1600" u="none" cap="none" strike="noStrike">
              <a:solidFill>
                <a:srgbClr val="1D2F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3496413" y="970038"/>
            <a:ext cx="71661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rPr b="0" i="0" lang="ru-RU" sz="16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Кафедра Кафедра №42 «Криптология и кибербезопасность»</a:t>
            </a:r>
            <a:endParaRPr b="1" i="0" sz="1600" u="none" cap="none" strike="noStrike">
              <a:solidFill>
                <a:srgbClr val="1D2F6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4793456" y="3215481"/>
            <a:ext cx="4319587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9B2"/>
              </a:buClr>
              <a:buSzPts val="1120"/>
              <a:buFont typeface="Noto Sans Symbols"/>
              <a:buNone/>
            </a:pPr>
            <a:r>
              <a:rPr b="0" i="0" lang="ru-RU" sz="1400" u="none" cap="none" strike="noStrike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10.03.01 Информационная безопасность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Изображение выглядит как черный, темнота&#10;&#10;Содержимое, созданное ИИ, может быть неверным." id="64" name="Google Shape;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0499" y="464787"/>
            <a:ext cx="1282862" cy="665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 выглядит как черный, темнота, черно-белый&#10;&#10;Содержимое, созданное ИИ, может быть неверным." id="65" name="Google Shape;6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2129" y="1975613"/>
            <a:ext cx="1099597" cy="1022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3200"/>
              <a:t>Актуальность исследования</a:t>
            </a:r>
            <a:endParaRPr/>
          </a:p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rPr b="0" lang="ru-RU" sz="2600">
                <a:solidFill>
                  <a:schemeClr val="dk1"/>
                </a:solidFill>
              </a:rPr>
              <a:t>	Современные корпоративные сети сталкиваются с увеличением числа кибератак, сложностью сетевой инфраструктуры и необходимостью автоматизированного обнаружения угроз. Традиционные методы (сигнатурный анализ, эвристики) уже не справляются с угрозами типа APT, DDoS и атаками на основе ИИ. Государство, индустрия и научное сообщество заинтересованы в разработке более эффективных решений, использующих нейронные сети.</a:t>
            </a:r>
            <a:endParaRPr/>
          </a:p>
        </p:txBody>
      </p:sp>
      <p:sp>
        <p:nvSpPr>
          <p:cNvPr id="73" name="Google Shape;73;p7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8611"/>
              <a:buFont typeface="Arial"/>
              <a:buNone/>
            </a:pPr>
            <a:r>
              <a:rPr lang="ru-RU" sz="3200"/>
              <a:t>Степень научной разработанности темы/проблемы исследования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51851"/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b="0" lang="ru-RU" sz="2600">
                <a:solidFill>
                  <a:schemeClr val="dk1"/>
                </a:solidFill>
              </a:rPr>
              <a:t>Классические методы обнаружения аномалий: статистические модели, эвристический анализ, сигнатурный подход.</a:t>
            </a:r>
            <a:endParaRPr b="0" sz="2600">
              <a:solidFill>
                <a:schemeClr val="dk1"/>
              </a:solidFill>
            </a:endParaRPr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t/>
            </a:r>
            <a:endParaRPr b="0" sz="2600">
              <a:solidFill>
                <a:schemeClr val="dk1"/>
              </a:solidFill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b="0" lang="ru-RU" sz="2600">
                <a:solidFill>
                  <a:schemeClr val="dk1"/>
                </a:solidFill>
              </a:rPr>
              <a:t>Современные методы: машинное обучение (ML), сверточные (CNN) и рекуррентные (LSTM) нейронные сети, автоэнкодеры, генеративные состязательные сети (GAN).</a:t>
            </a:r>
            <a:endParaRPr b="0" sz="2600">
              <a:solidFill>
                <a:schemeClr val="dk1"/>
              </a:solidFill>
            </a:endParaRPr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t/>
            </a:r>
            <a:endParaRPr b="0" sz="2600">
              <a:solidFill>
                <a:schemeClr val="dk1"/>
              </a:solidFill>
            </a:endParaRPr>
          </a:p>
          <a:p>
            <a:pPr indent="-3937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b="0" lang="ru-RU" sz="2600">
                <a:solidFill>
                  <a:schemeClr val="dk1"/>
                </a:solidFill>
              </a:rPr>
              <a:t>Недостаточно исследована область применения GAN для создания ИИ-злоумышленника, моделирующего атаки.</a:t>
            </a:r>
            <a:endParaRPr/>
          </a:p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3200"/>
              <a:t>Цель и задачи исследования</a:t>
            </a:r>
            <a:endParaRPr/>
          </a:p>
        </p:txBody>
      </p:sp>
      <p:sp>
        <p:nvSpPr>
          <p:cNvPr id="88" name="Google Shape;88;p9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rPr lang="ru-RU" sz="2200">
                <a:solidFill>
                  <a:schemeClr val="dk1"/>
                </a:solidFill>
              </a:rPr>
              <a:t>Цель работы</a:t>
            </a:r>
            <a:r>
              <a:rPr b="0" lang="ru-RU" sz="2200">
                <a:solidFill>
                  <a:schemeClr val="dk1"/>
                </a:solidFill>
              </a:rPr>
              <a:t> – разработка методики обнаружения аномальной активности и несанкционированных действий в корпоративной сети на основе нейронных сетей, включающей анализ поведения, классификацию угроз и моделирование атак с использованием ИИ-злоумышленника для тестирования системы.</a:t>
            </a:r>
            <a:endParaRPr b="0" sz="2200">
              <a:solidFill>
                <a:schemeClr val="dk1"/>
              </a:solidFill>
            </a:endParaRPr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sz="2000"/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lang="ru-RU" sz="2000"/>
              <a:t>	</a:t>
            </a:r>
            <a:r>
              <a:rPr lang="ru-RU" sz="2200"/>
              <a:t>Задачи на данном этапе:</a:t>
            </a:r>
            <a:endParaRPr sz="2200"/>
          </a:p>
          <a:p>
            <a:pPr indent="-368300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ru-RU" sz="2200"/>
              <a:t>Комплексное тестирование разработанного прототипа системы обнаружения аномальной активности</a:t>
            </a:r>
            <a:endParaRPr sz="2200"/>
          </a:p>
          <a:p>
            <a:pPr indent="-368300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ru-RU" sz="2200"/>
              <a:t>Анализ эффективности разработанной методики обнаружения аномалий</a:t>
            </a:r>
            <a:endParaRPr sz="2200"/>
          </a:p>
          <a:p>
            <a:pPr indent="-368300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ru-RU" sz="2200"/>
              <a:t>Оптимизация и доработка разработанного прототипа системы</a:t>
            </a:r>
            <a:endParaRPr sz="2200"/>
          </a:p>
          <a:p>
            <a:pPr indent="-368300" lvl="0" marL="13716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ru-RU" sz="2200"/>
              <a:t>Подготовка итоговых материалов и оформление результатов исследования</a:t>
            </a:r>
            <a:endParaRPr sz="2200"/>
          </a:p>
        </p:txBody>
      </p:sp>
      <p:sp>
        <p:nvSpPr>
          <p:cNvPr id="89" name="Google Shape;89;p9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/>
              <a:t>З</a:t>
            </a:r>
            <a:r>
              <a:rPr lang="ru-RU" sz="3200"/>
              <a:t>адачи исследования</a:t>
            </a:r>
            <a:endParaRPr/>
          </a:p>
        </p:txBody>
      </p:sp>
      <p:sp>
        <p:nvSpPr>
          <p:cNvPr id="96" name="Google Shape;96;p10"/>
          <p:cNvSpPr txBox="1"/>
          <p:nvPr>
            <p:ph idx="1" type="body"/>
          </p:nvPr>
        </p:nvSpPr>
        <p:spPr>
          <a:xfrm>
            <a:off x="609600" y="1417650"/>
            <a:ext cx="9956700" cy="5292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6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ru-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Систематизация существующих методов обнаружения аномалий и атак: статистические подходы, классические ML-методы, нейросетевые модели; обзор IDS/IPS/NIDS-решений.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6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ru-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Изучение методов моделирования атак с использованием ИИ; определение роли ИИ-злоумышленника как агента переключения режимов «норма / атака / дрейф».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6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lang="ru-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Формулировка гипотезы и формализация функциональных и нефункциональных требований к системе.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6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lang="ru-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Разработка и обоснование архитектуры нейронной сети для последовательностей и окон сетевого трафика; определение входного представления и схемы алертирования.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6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Сбор и подготовка данных (UNSW-NB15, CICIDS2017); препроцессинг, формирование скользящих окон, управление дисбалансом классов.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6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6. </a:t>
            </a:r>
            <a:r>
              <a:rPr lang="ru-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Обучение нейросетевых моделей, калибровка порогов под целевой эксплуатационный FPR, сравнение с baseline-моделями.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6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7. </a:t>
            </a:r>
            <a:r>
              <a:rPr lang="ru-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Реализация ИИ-злоумышленника и комплексное тестирование прототипа в связке «агент → детектор».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6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8. </a:t>
            </a:r>
            <a:r>
              <a:rPr lang="ru-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Реализация программного прототипа мониторинга и детекции в реальном времени.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9. </a:t>
            </a:r>
            <a:r>
              <a:rPr lang="ru-RU" sz="16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Оценка эффективности, оптимизация, формирование выводов и направлений развития.</a:t>
            </a:r>
            <a:endParaRPr sz="2600"/>
          </a:p>
        </p:txBody>
      </p:sp>
      <p:sp>
        <p:nvSpPr>
          <p:cNvPr id="97" name="Google Shape;97;p10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3200"/>
              <a:t>Объект и предмет исследования</a:t>
            </a:r>
            <a:endParaRPr/>
          </a:p>
        </p:txBody>
      </p:sp>
      <p:sp>
        <p:nvSpPr>
          <p:cNvPr id="104" name="Google Shape;104;p11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-RU"/>
              <a:t>Объект исследования: методы и технологии обнаружения аномальной активности и несанкционированных действий в корпоративных сетях на основе данных мониторинга, прежде всего телеметрии сетевого трафика. Данные о поведении пользователей рассматриваются в теоретической части как один из возможных источников, однако в экспериментальной реализации и валидации не используются. </a:t>
            </a:r>
            <a:endParaRPr b="0">
              <a:solidFill>
                <a:schemeClr val="dk1"/>
              </a:solidFill>
            </a:endParaRPr>
          </a:p>
          <a:p>
            <a:pPr indent="-273050" lvl="0" marL="27305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Noto Sans Symbols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ru-RU"/>
              <a:t>Предмет исследования: применение нейросетевых методов для выявления аномалий и признаков несанкционированной активности по данным сетевого трафика, а также разработка и применение ИИ-злоумышленника в виде генеративного ИИ-агента для синтеза трафика и атакующих сценариев с целью тестирования и валидации системы обнаружения. </a:t>
            </a:r>
            <a:endParaRPr sz="2200"/>
          </a:p>
        </p:txBody>
      </p:sp>
      <p:sp>
        <p:nvSpPr>
          <p:cNvPr id="105" name="Google Shape;105;p11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6"/>
              <a:buFont typeface="Arial"/>
              <a:buNone/>
            </a:pPr>
            <a:r>
              <a:rPr lang="ru-RU" sz="3200"/>
              <a:t>Методология и методы исследования</a:t>
            </a:r>
            <a:endParaRPr/>
          </a:p>
        </p:txBody>
      </p:sp>
      <p:sp>
        <p:nvSpPr>
          <p:cNvPr id="112" name="Google Shape;112;p12"/>
          <p:cNvSpPr txBox="1"/>
          <p:nvPr>
            <p:ph idx="1" type="body"/>
          </p:nvPr>
        </p:nvSpPr>
        <p:spPr>
          <a:xfrm>
            <a:off x="609600" y="1600200"/>
            <a:ext cx="9956700" cy="51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ru-RU" sz="2500"/>
              <a:t>Системный анализ предметной области и сравнительный обзор подходов обнаружения вторжений и аномалий в сетевом трафике (NIDS/NTA), включая сигнатурные, статистические и ML/DL методы. </a:t>
            </a:r>
            <a:endParaRPr b="0"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ru-RU" sz="2500"/>
              <a:t>Формализация требований к данным и протоколу экспериментов. </a:t>
            </a:r>
            <a:endParaRPr b="0"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ru-RU" sz="2500"/>
              <a:t>Экспериментальная методология машинного обучения. </a:t>
            </a:r>
            <a:endParaRPr b="0" sz="2500">
              <a:solidFill>
                <a:schemeClr val="dk1"/>
              </a:solidFill>
            </a:endParaRPr>
          </a:p>
          <a:p>
            <a:pPr indent="-3873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ru-RU" sz="2500"/>
              <a:t>Методы предобработки данных: очистка, обработка пропусков (импутация), нормализация числовых признаков, кодирование категориальных признаков (embedding-представления).</a:t>
            </a:r>
            <a:endParaRPr sz="2500"/>
          </a:p>
          <a:p>
            <a:pPr indent="-3873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lang="ru-RU" sz="2500"/>
              <a:t>Нейросетевое моделирование последовательностей сетевого трафика: гибридная архитектура CNN-LSTM для извлечения локальных и долгосрочных временных закономерностей в окнах трафика. </a:t>
            </a:r>
            <a:endParaRPr sz="2500"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/>
          </a:p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ru-RU" sz="3200"/>
              <a:t>Научная новизна</a:t>
            </a:r>
            <a:endParaRPr/>
          </a:p>
        </p:txBody>
      </p:sp>
      <p:sp>
        <p:nvSpPr>
          <p:cNvPr id="120" name="Google Shape;120;p13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5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1. </a:t>
            </a:r>
            <a:r>
              <a:rPr b="1" lang="ru-RU" sz="15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Гибридная архитектура CNN-LSTM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4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для классификации flow-окон, обоснованная теоретическим и экспериментальным сравнением с десятью альтернативами в равных условиях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4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5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2. </a:t>
            </a:r>
            <a:r>
              <a:rPr b="1" lang="ru-RU" sz="15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ИИ-злоумышленник без cGAN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4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как воспроизводимый активный источник тестовых сценариев на основе шаблонов, конечного автомата и drift-инжектора (11 состояний)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4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5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3. </a:t>
            </a:r>
            <a:r>
              <a:rPr b="1" lang="ru-RU" sz="15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Единый протокол E1–E6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4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включающий сравнение моделей в равных условиях, анализ ошибок, калибровку порога под эксплуатационный FPR, стресс-тестирование с агентом и drift-устойчивость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400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5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4. </a:t>
            </a:r>
            <a:r>
              <a:rPr b="1" lang="ru-RU" sz="15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Сквозная воспроизводимость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от raw-датасета до итоговых метрик и графиков — одной командой Makefile с фиксированными seed</a:t>
            </a:r>
            <a:endParaRPr sz="2600"/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Архитектура методики обнаружения</a:t>
            </a:r>
            <a:endParaRPr/>
          </a:p>
        </p:txBody>
      </p:sp>
      <p:sp>
        <p:nvSpPr>
          <p:cNvPr id="128" name="Google Shape;128;p14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540000" y="1188000"/>
            <a:ext cx="1116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Концептуальная </a:t>
            </a: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трехуровневая</a:t>
            </a: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модель системы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588059" y="1620000"/>
            <a:ext cx="3528000" cy="720000"/>
          </a:xfrm>
          <a:prstGeom prst="rect">
            <a:avLst/>
          </a:prstGeom>
          <a:solidFill>
            <a:srgbClr val="1D2F6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8000" spcFirstLastPara="1" rIns="10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Подсистема предобработки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CCD8F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 формирования окон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588059" y="2340000"/>
            <a:ext cx="3528000" cy="23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2F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IPFIX → Schema → Cleanup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Encoding → Log+Robust scaling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Sliding windows (W=32, S=8)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4332059" y="1620000"/>
            <a:ext cx="3528000" cy="720000"/>
          </a:xfrm>
          <a:prstGeom prst="rect">
            <a:avLst/>
          </a:prstGeom>
          <a:solidFill>
            <a:srgbClr val="1D2F6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8000" spcFirstLastPara="1" rIns="10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Нейросетевой детектор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CCD8F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CNN-LSTM (proposed)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4332059" y="2340000"/>
            <a:ext cx="3528000" cy="23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2F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Conv1D → BatchNorm → ReLU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MaxPool → Dropout × 2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LSTM → MLP-head → Sigmoid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8076059" y="1620000"/>
            <a:ext cx="3528000" cy="720000"/>
          </a:xfrm>
          <a:prstGeom prst="rect">
            <a:avLst/>
          </a:prstGeom>
          <a:solidFill>
            <a:srgbClr val="1D2F6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08000" spcFirstLastPara="1" rIns="10800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ИИ-злоумышленник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CCD8F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Templates + FSM + Drift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8076059" y="2340000"/>
            <a:ext cx="3528000" cy="2340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1D2F6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t" bIns="45700" lIns="144000" spcFirstLastPara="1" rIns="144000" wrap="square" tIns="1440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шаблонов атак + Normal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FSM (11 состояний)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drift-инжектор (3 типа)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540000" y="4860000"/>
            <a:ext cx="11160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Дополнительные модули: блок drift-monitoring (PSI/KL/MMD), калибровка порога под целевой FPR (температурное масштабирование), формирование алертов с пятиступенчатой шкалой severity (info → critical).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609600" y="274646"/>
            <a:ext cx="9956700" cy="7323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Выбор датасета: UNSW-NB15</a:t>
            </a:r>
            <a:endParaRPr/>
          </a:p>
        </p:txBody>
      </p:sp>
      <p:sp>
        <p:nvSpPr>
          <p:cNvPr id="143" name="Google Shape;143;p15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 sz="1600"/>
              <a:t>‹#›</a:t>
            </a:fld>
            <a:endParaRPr sz="1600"/>
          </a:p>
        </p:txBody>
      </p:sp>
      <p:sp>
        <p:nvSpPr>
          <p:cNvPr id="144" name="Google Shape;144;p15"/>
          <p:cNvSpPr txBox="1"/>
          <p:nvPr/>
        </p:nvSpPr>
        <p:spPr>
          <a:xfrm>
            <a:off x="540000" y="1188000"/>
            <a:ext cx="1116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Сравнение 10 публично доступных датасетов NIDS по 8 критериям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45" name="Google Shape;145;p15"/>
          <p:cNvGraphicFramePr/>
          <p:nvPr/>
        </p:nvGraphicFramePr>
        <p:xfrm>
          <a:off x="540000" y="1548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126000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  <a:gridCol w="266400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Датасет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K1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K4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K7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Ограничения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KDDCup99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устарел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NSL-KDD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1998 г., малый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UNSW-NB15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доминирование Generic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1CC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CICIDS2017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дефекты разметки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CSE-CIC-IDS2018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объём, дефекты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TON_IoT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IoT-смещение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Bot-IoT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доля атак &gt; 97 %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Kyoto 2006+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honeypot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DARPA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1998 г.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LITNET-2020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○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дисбаланс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146" name="Google Shape;146;p15"/>
          <p:cNvSpPr txBox="1"/>
          <p:nvPr/>
        </p:nvSpPr>
        <p:spPr>
          <a:xfrm>
            <a:off x="7845300" y="1809773"/>
            <a:ext cx="3244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K1 — актуальность; K2 — репрезентативность нормы; K3 — качество разметки; K4 — дисбаланс; K5 — DL; K6 — flow-формат; K7 — воспроизводимость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516000" y="6452200"/>
            <a:ext cx="1116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Выбор: UNSW-NB15 (основной) + CICIDS2017 (cross-evaluation)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>
                <a:solidFill>
                  <a:srgbClr val="5C7AE1"/>
                </a:solidFill>
              </a:rPr>
              <a:t>Сравнение архитектур нейронных сетей (по литературе)</a:t>
            </a:r>
            <a:endParaRPr>
              <a:solidFill>
                <a:srgbClr val="5C7AE1"/>
              </a:solidFill>
            </a:endParaRPr>
          </a:p>
        </p:txBody>
      </p:sp>
      <p:sp>
        <p:nvSpPr>
          <p:cNvPr id="154" name="Google Shape;154;p16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155" name="Google Shape;155;p16"/>
          <p:cNvGraphicFramePr/>
          <p:nvPr/>
        </p:nvGraphicFramePr>
        <p:xfrm>
          <a:off x="540000" y="129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1260000"/>
                <a:gridCol w="1440000"/>
                <a:gridCol w="1656000"/>
                <a:gridCol w="1260000"/>
                <a:gridCol w="2520000"/>
              </a:tblGrid>
              <a:tr h="396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Архитектура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Локальные паттерны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Временные зависимости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latency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NIDS-источник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низкая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Sharafaldin 2018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1D-CNN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ограниченные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низкая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Vinayakumar 2019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средняя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Kim 2016, Yin 2017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низкая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Vinayakumar 2019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двунаправленные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средняя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Ahmad 2021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средняя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Vinayakumar 2019, Ferrag 2020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фиксированные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низкая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Bai 2018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через attention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средняя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Vaswani 2017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AE / VAE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косвенно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низкая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8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Mirsky 2018 (Kitsune)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6" name="Google Shape;156;p16"/>
          <p:cNvSpPr txBox="1"/>
          <p:nvPr/>
        </p:nvSpPr>
        <p:spPr>
          <a:xfrm>
            <a:off x="432375" y="6476375"/>
            <a:ext cx="1116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4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CNN-LSTM покрывает оба измерения структуры flow-данных при разумной вычислительной стоимости.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cap="none">
                <a:solidFill>
                  <a:srgbClr val="5C7AE1"/>
                </a:solidFill>
              </a:rPr>
              <a:t>Выбор CNN-LSTM как основной архитектуры</a:t>
            </a:r>
            <a:endParaRPr>
              <a:solidFill>
                <a:srgbClr val="5C7AE1"/>
              </a:solidFill>
            </a:endParaRPr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8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1. </a:t>
            </a:r>
            <a:r>
              <a:rPr b="1" lang="ru-RU" sz="18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Соответствие природе данных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Атаки во flow-представлении проявляются как локальные паттерны (CNN) и временные тренды (LSTM) одновременно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8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2. </a:t>
            </a:r>
            <a:r>
              <a:rPr b="1" lang="ru-RU" sz="18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Опубликованные результаты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Vinayakumar 2019, Ferrag 2020, Liu 2019, Ahmad 2021 — CNN-LSTM лидер по F1 на UNSW и CICIDS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8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3. </a:t>
            </a:r>
            <a:r>
              <a:rPr b="1" lang="ru-RU" sz="18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Воспроизводимость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Стандартные примитивы PyTorch, без специальных техник обучения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8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4. </a:t>
            </a:r>
            <a:r>
              <a:rPr b="1" lang="ru-RU" sz="18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Эксплуатационная стоимость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Latency 0.96 мс/окно — удовлетворяет NFR-3 (≤ 50 мс)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8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5. </a:t>
            </a:r>
            <a:r>
              <a:rPr b="1" lang="ru-RU" sz="18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Перспектива расширения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8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Перенос на pcap-уровень, online fine-tuning при дрейфе, end-to-end через embedding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Программный прототип</a:t>
            </a:r>
            <a:endParaRPr/>
          </a:p>
        </p:txBody>
      </p:sp>
      <p:sp>
        <p:nvSpPr>
          <p:cNvPr id="171" name="Google Shape;171;p18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16000" y="2171238"/>
            <a:ext cx="1116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Python-пакет diploma_nids — около 4230 строк кода, 9 модулей юнит-тестов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16000" y="2603238"/>
            <a:ext cx="5400000" cy="57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062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54000" lIns="144000" spcFirstLastPara="1" rIns="144000" wrap="square" tIns="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Подсистема обработки данных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Preprocessor (fit/transform), windowing, splits — 510 строк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167999" y="2603238"/>
            <a:ext cx="5400000" cy="57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062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54000" lIns="144000" spcFirstLastPara="1" rIns="144000" wrap="square" tIns="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5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Подсистема моделей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 моделей (10 DL + 5 classical) в едином registry — 700 строк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16000" y="3323238"/>
            <a:ext cx="5400000" cy="57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062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54000" lIns="144000" spcFirstLastPara="1" rIns="144000" wrap="square" tIns="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Подсистема обучения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Trainer (AdamW, cosine, focal, early stopping) — 250 строк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6167999" y="3323238"/>
            <a:ext cx="5400000" cy="57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062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54000" lIns="144000" spcFirstLastPara="1" rIns="144000" wrap="square" tIns="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Подсистема оценки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Метрики, калибровка, drift (PSI/KL/MMD) — 320 строк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516000" y="4043238"/>
            <a:ext cx="5400000" cy="57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062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54000" lIns="144000" spcFirstLastPara="1" rIns="144000" wrap="square" tIns="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ИИ-злоумышленник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шаблонов + FSM + drift-injector + runtime — 680 строк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6168000" y="4043250"/>
            <a:ext cx="5400000" cy="57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062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54000" lIns="144000" spcFirstLastPara="1" rIns="144000" wrap="square" tIns="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5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Online-инференс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5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 service + WindowScorer + AlertFormer — 260 строк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516000" y="4763238"/>
            <a:ext cx="5400000" cy="57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062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54000" lIns="144000" spcFirstLastPara="1" rIns="144000" wrap="square" tIns="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UI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Дэшборд алертов и метрик — 70 строк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6167999" y="4763238"/>
            <a:ext cx="5400000" cy="57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4062D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54000" lIns="144000" spcFirstLastPara="1" rIns="144000" wrap="square" tIns="5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Тесты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 модулей pytest — 600 строк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ИИ-злоумышленник: templates + FSM + drift</a:t>
            </a:r>
            <a:endParaRPr/>
          </a:p>
        </p:txBody>
      </p:sp>
      <p:sp>
        <p:nvSpPr>
          <p:cNvPr id="187" name="Google Shape;187;p19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540000" y="1260000"/>
            <a:ext cx="540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4062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Конечный автомат (11 состояний)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9" name="Google Shape;189;p19"/>
          <p:cNvGraphicFramePr/>
          <p:nvPr/>
        </p:nvGraphicFramePr>
        <p:xfrm>
          <a:off x="540000" y="1584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1800000"/>
                <a:gridCol w="1800000"/>
                <a:gridCol w="18000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Состояние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Шаблон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 UNSW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ATTACK_DDOS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ddos_synflood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ATTACK_SCAN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port_scan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Reconnaissance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ATTACK_BRUTE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brute_force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Reconnaissance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ATTACK_EXPLOIT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exploit_payload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Exploits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ATTACK_EXFIL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data_exfil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Backdoors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ATTACK_INTREC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internal_recon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Reconnaissance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ATTACK_WORM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worm_lateral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Worms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DRIFT_COV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covariate shift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DRIFT_PRIOR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 shift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DRIFT_CONCEPT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 drift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sz="1600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—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19"/>
          <p:cNvSpPr txBox="1"/>
          <p:nvPr/>
        </p:nvSpPr>
        <p:spPr>
          <a:xfrm>
            <a:off x="6300000" y="1260000"/>
            <a:ext cx="540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4062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300000" y="1584000"/>
            <a:ext cx="5400000" cy="48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Templates: </a:t>
            </a: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семь параметризованных шаблонов атак, согласованных с таксономией UNSW-NB15. Параметры: интенсивность, длительность, скорость, размеры пакетов.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FSM-планировщик: </a:t>
            </a: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переключение состояний по вероятностной политике. Гарантирует воспроизводимость по seed и явную ground truth.</a:t>
            </a:r>
            <a:endParaRPr i="0" sz="16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Drift-инжектор: </a:t>
            </a: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три типа дрейфа: covariate (сдвиг масштаба), prior (доли классов), concept (маскирование атак). Контроль интенсивности через PSI/MMD.</a:t>
            </a:r>
            <a:endParaRPr i="0" sz="16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Без cGAN: </a:t>
            </a:r>
            <a:r>
              <a:rPr i="0" lang="ru-RU" sz="16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обоснованный выбор: воспроизводимость, интерпретируемость, отсутствие риска коллапса генеративной модели.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Эксперимент E1: сравнение 14 моделей на UNSW-NB15</a:t>
            </a:r>
            <a:endParaRPr/>
          </a:p>
        </p:txBody>
      </p:sp>
      <p:sp>
        <p:nvSpPr>
          <p:cNvPr id="198" name="Google Shape;198;p20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40000" y="1188000"/>
            <a:ext cx="1116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 запуска, идентичные условия, порог калиброван под FPR = 0.01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0" name="Google Shape;200;p20"/>
          <p:cNvGraphicFramePr/>
          <p:nvPr/>
        </p:nvGraphicFramePr>
        <p:xfrm>
          <a:off x="540000" y="1548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2160000"/>
                <a:gridCol w="720000"/>
                <a:gridCol w="900000"/>
                <a:gridCol w="900000"/>
                <a:gridCol w="900000"/>
                <a:gridCol w="1260000"/>
              </a:tblGrid>
              <a:tr h="31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Модель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seeds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Latency, мс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51.5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4.20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 + Attention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0.842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1.84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3.39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0.809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0.715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Transformer-encoder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0.981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(proposed)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1D-CNN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0.674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Isolation Forest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0.874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20"/>
          <p:cNvSpPr txBox="1"/>
          <p:nvPr/>
        </p:nvSpPr>
        <p:spPr>
          <a:xfrm>
            <a:off x="7560000" y="1548000"/>
            <a:ext cx="414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4062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Ключевые выводы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7560000" y="1944000"/>
            <a:ext cx="4140000" cy="28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XGBoost лидер по F1 (0.919) на табличных flow-данных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Среди DL: TCN, BiLSTM, LSTM, CNN-LSTM (F1 = 0.77–0.84)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PR-AUC ≥ 0.98 у всех ведущих моделей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CNN-LSTM имеет наименьшую latency среди DL (0.96 мс)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MLP вырождается без временной структуры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Согласуется с обзорами Ferrag 2020, Ahmad 2021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Эксперимент E2: анализ ошибок CNN-LSTM</a:t>
            </a:r>
            <a:endParaRPr/>
          </a:p>
        </p:txBody>
      </p:sp>
      <p:sp>
        <p:nvSpPr>
          <p:cNvPr id="209" name="Google Shape;209;p21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540000" y="1188000"/>
            <a:ext cx="1116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Confusion matrix и per-attack recall, порог τ = 0.675 (target FPR = 0.01)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40000" y="1548000"/>
            <a:ext cx="504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4062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Матрица ошибок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2" name="Google Shape;212;p21"/>
          <p:cNvGraphicFramePr/>
          <p:nvPr/>
        </p:nvGraphicFramePr>
        <p:xfrm>
          <a:off x="540000" y="18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2520000"/>
                <a:gridCol w="1260000"/>
                <a:gridCol w="1260000"/>
              </a:tblGrid>
              <a:tr h="3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Истинное / Предсказанное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 (0)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6957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 (1)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6531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8355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21"/>
          <p:cNvSpPr txBox="1"/>
          <p:nvPr/>
        </p:nvSpPr>
        <p:spPr>
          <a:xfrm>
            <a:off x="540000" y="3060000"/>
            <a:ext cx="5040000" cy="11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 = 0.992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   = 0.561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        = 0.720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FPR       = 0.010 (целевой)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6120000" y="1548000"/>
            <a:ext cx="540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4062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 по 10 классам атак UNSW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15" name="Google Shape;215;p21"/>
          <p:cNvGraphicFramePr/>
          <p:nvPr/>
        </p:nvGraphicFramePr>
        <p:xfrm>
          <a:off x="6120000" y="180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2520000"/>
                <a:gridCol w="1440000"/>
                <a:gridCol w="1440000"/>
              </a:tblGrid>
              <a:tr h="360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attack_cat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support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Shellcode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0.539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Backdoor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Generic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3342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0.555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1076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0.559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Exploits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2885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0.561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Normal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4803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0.562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Reconnaissance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0.570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Fuzzers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1453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0.577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216" name="Google Shape;216;p21"/>
          <p:cNvSpPr txBox="1"/>
          <p:nvPr/>
        </p:nvSpPr>
        <p:spPr>
          <a:xfrm>
            <a:off x="540000" y="4860000"/>
            <a:ext cx="54000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Эксплуатационно адекватный режим для SOC: высокая Precision (0.99) ценой умеренного Recall. Полнота по классам — в полосе 0.50–0.58, наименьшая у редких классов (Shellcode, Analysis, Worms).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Эксперимент E3: калибровка порогов</a:t>
            </a:r>
            <a:endParaRPr/>
          </a:p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40000" y="1188000"/>
            <a:ext cx="1116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Температурное масштабирование + выбор порога под target-FPR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5" name="Google Shape;225;p22"/>
          <p:cNvGraphicFramePr/>
          <p:nvPr/>
        </p:nvGraphicFramePr>
        <p:xfrm>
          <a:off x="540000" y="1620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3600000"/>
                <a:gridCol w="1800000"/>
              </a:tblGrid>
              <a:tr h="411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Показатель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Значение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41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Целевой FPR на val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Подобранный порог τ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0.675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41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ECE до калибровки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0.089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ECE после калибровки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41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Температура 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1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FPR на test после калибровки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226" name="Google Shape;226;p22"/>
          <p:cNvSpPr txBox="1"/>
          <p:nvPr/>
        </p:nvSpPr>
        <p:spPr>
          <a:xfrm>
            <a:off x="6120000" y="1620000"/>
            <a:ext cx="5400000" cy="3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>
                <a:solidFill>
                  <a:srgbClr val="4062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Алгоритм калибровки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>
              <a:solidFill>
                <a:srgbClr val="4062D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Сбор логитов на val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Минимизация BCE как функции 1/T через L-BFGS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Применение p̂ = σ(z/T) на test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Поиск минимального τ при FPR_val ≤ 0.01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>
                <a:solidFill>
                  <a:srgbClr val="4062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>
              <a:solidFill>
                <a:srgbClr val="4062D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1.28 — модель слегка переуверена,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калибровка снижает ECE почти вдвое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(0.089 → 0.047). FPR на test совпадает с целевым.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Эксперимент E4: стресс-тест с ИИ-злоумышленником</a:t>
            </a:r>
            <a:endParaRPr/>
          </a:p>
        </p:txBody>
      </p:sp>
      <p:sp>
        <p:nvSpPr>
          <p:cNvPr id="233" name="Google Shape;233;p23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540000" y="1188000"/>
            <a:ext cx="1116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Поток агента: 600 тиков, 16 412 flow-записей; ground-truth по 11 состояниям FSM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35" name="Google Shape;235;p23"/>
          <p:cNvGraphicFramePr/>
          <p:nvPr/>
        </p:nvGraphicFramePr>
        <p:xfrm>
          <a:off x="540000" y="1548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2880000"/>
                <a:gridCol w="2160000"/>
              </a:tblGrid>
              <a:tr h="31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Метрика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Значение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Окон, всего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2048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Окон атак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Порог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0.675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 Positive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 Positive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True Negative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False Negative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0.469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0.632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MCC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0.602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236" name="Google Shape;236;p23"/>
          <p:cNvSpPr txBox="1"/>
          <p:nvPr/>
        </p:nvSpPr>
        <p:spPr>
          <a:xfrm>
            <a:off x="5940000" y="1548000"/>
            <a:ext cx="540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4062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Подтверждение гипотезы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5940000" y="1872000"/>
            <a:ext cx="5400000" cy="3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Precision = 0.970 — модель устойчиво распознаёт атаки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FPR = 0.006 на нормальных состояниях — ниже целевого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Per-state recall измерим благодаря ground-truth FSM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Лучший recall: DDoS, Brute Force, Port Scan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Худший recall: Worms, Exploits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Ground-truth по 11 состояниям автомата дала аналитику,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недоступную при использовании статических датасетов: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per-state recall и FPR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Time-To-Detect ≤ 1 окна для шаблонов с явными flow-проявлениями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возможность связать ошибки FN с состояниями FSM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Эксперимент E5: устойчивость к дрейфу распределений</a:t>
            </a:r>
            <a:endParaRPr/>
          </a:p>
        </p:txBody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40000" y="1188000"/>
            <a:ext cx="1116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Drift sweep: covariate × concept × 5 интенсивностей (10 точек)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6" name="Google Shape;246;p24"/>
          <p:cNvGraphicFramePr/>
          <p:nvPr/>
        </p:nvGraphicFramePr>
        <p:xfrm>
          <a:off x="540000" y="1548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936000"/>
                <a:gridCol w="720000"/>
                <a:gridCol w="720000"/>
                <a:gridCol w="900000"/>
                <a:gridCol w="900000"/>
                <a:gridCol w="900000"/>
                <a:gridCol w="1044000"/>
              </a:tblGrid>
              <a:tr h="343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Тип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Интенс.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PSI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MMD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Alarm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covariate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covariate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covariate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covariate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0.308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covariate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43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43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concept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0.287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p24"/>
          <p:cNvSpPr txBox="1"/>
          <p:nvPr/>
        </p:nvSpPr>
        <p:spPr>
          <a:xfrm>
            <a:off x="7020000" y="1548000"/>
            <a:ext cx="46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600">
                <a:solidFill>
                  <a:srgbClr val="4062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Интерпретация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7020000" y="1944000"/>
            <a:ext cx="46800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Drift-monitor корректно срабатывает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на всех 10 точках (PSI &gt; 0.25)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Падение F1 на синтетике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обусловлено OOD-характером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параметризованных шаблонов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агента относительно UNSW-NB15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Поведение ожидаемо для текущей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версии шаблонов; калибровка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под маргинальные распределения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UNSW — задача развития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График устойчивости к дрейфу</a:t>
            </a:r>
            <a:endParaRPr/>
          </a:p>
        </p:txBody>
      </p:sp>
      <p:sp>
        <p:nvSpPr>
          <p:cNvPr id="255" name="Google Shape;255;p25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56" name="Google Shape;25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775" y="1766900"/>
            <a:ext cx="9696451" cy="352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Эксперимент E6: эксплуатационная производительность</a:t>
            </a:r>
            <a:endParaRPr/>
          </a:p>
        </p:txBody>
      </p:sp>
      <p:sp>
        <p:nvSpPr>
          <p:cNvPr id="263" name="Google Shape;263;p26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540000" y="1188000"/>
            <a:ext cx="1116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600">
                <a:solidFill>
                  <a:srgbClr val="AAA9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 latency на одно окно (CPU, batch = 1, 50 прогонов)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65" name="Google Shape;265;p26"/>
          <p:cNvGraphicFramePr/>
          <p:nvPr/>
        </p:nvGraphicFramePr>
        <p:xfrm>
          <a:off x="540000" y="1548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2520000"/>
                <a:gridCol w="1440000"/>
                <a:gridCol w="1440000"/>
              </a:tblGrid>
              <a:tr h="318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Модель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Latency, мс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NFR-3 (≤ 50 мс)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MLP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1D-CNN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(proposed)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Transformer-encoder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1.44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BiLSTM + Attention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1.84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GRU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3.39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TCN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4.20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18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Isolation Forest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1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51.5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✗ при batch=1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266" name="Google Shape;266;p26"/>
          <p:cNvSpPr txBox="1"/>
          <p:nvPr/>
        </p:nvSpPr>
        <p:spPr>
          <a:xfrm>
            <a:off x="6300000" y="1548000"/>
            <a:ext cx="5400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700">
                <a:solidFill>
                  <a:srgbClr val="4062D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Эксплуатационные выводы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26"/>
          <p:cNvSpPr txBox="1"/>
          <p:nvPr/>
        </p:nvSpPr>
        <p:spPr>
          <a:xfrm>
            <a:off x="6300000" y="1908000"/>
            <a:ext cx="5400000" cy="3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CNN-LSTM = 0.96 мс/окно (запас 52× к NFR-3)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Все DL модели укладываются в требование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Random Forest нарушает NFR-3 при batch=1,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но проходит NFR-4 (throughput) при батчировании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Самые быстрые: LR (0.10), MLP (0.18)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Throughput CNN-LSTM: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batch=1: ~1000 EPS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batch=64: ~10 000+ EPS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Память чекпойнта: 700 КБ — пригодна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</a:t>
            </a:r>
            <a:r>
              <a:rPr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развертывания</a:t>
            </a:r>
            <a:r>
              <a:rPr i="0" lang="ru-RU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на edge-устройствах.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Обоснование выбора CNN-LSTM для построения системы</a:t>
            </a:r>
            <a:endParaRPr/>
          </a:p>
        </p:txBody>
      </p:sp>
      <p:sp>
        <p:nvSpPr>
          <p:cNvPr id="274" name="Google Shape;274;p27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graphicFrame>
        <p:nvGraphicFramePr>
          <p:cNvPr id="275" name="Google Shape;275;p27"/>
          <p:cNvGraphicFramePr/>
          <p:nvPr/>
        </p:nvGraphicFramePr>
        <p:xfrm>
          <a:off x="540000" y="1332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{D61483D4-383B-4A7F-AB83-563176931985}</a:tableStyleId>
              </a:tblPr>
              <a:tblGrid>
                <a:gridCol w="2880000"/>
                <a:gridCol w="1980000"/>
                <a:gridCol w="1980000"/>
                <a:gridCol w="2700000"/>
              </a:tblGrid>
              <a:tr h="3763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Критерий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XGBoost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CNN-LSTM (proposed)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1D2F6A"/>
                    </a:solidFill>
                  </a:tcPr>
                </a:tc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F1 на UNSW-NB15 (avg)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0.770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PR-AUC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 latency, мс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51.5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Временная структура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LSTM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Локальные паттерны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через признаки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через признаки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Inference: flow vs окно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flow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flow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 flow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Память модели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1.5 МБ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 МБ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 МБ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Перенос на pcap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нет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Drift adaptation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полное re-train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полное re-train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online fine-tune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Соответствие гипотезе ВКР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ru-RU" u="none" cap="none" strike="noStrike">
                          <a:solidFill>
                            <a:srgbClr val="1A1A1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solidFill>
                      <a:srgbClr val="EEF1F8"/>
                    </a:solidFill>
                  </a:tcPr>
                </a:tc>
              </a:tr>
            </a:tbl>
          </a:graphicData>
        </a:graphic>
      </p:graphicFrame>
      <p:sp>
        <p:nvSpPr>
          <p:cNvPr id="276" name="Google Shape;276;p27"/>
          <p:cNvSpPr txBox="1"/>
          <p:nvPr/>
        </p:nvSpPr>
        <p:spPr>
          <a:xfrm>
            <a:off x="540000" y="5616000"/>
            <a:ext cx="1116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>
                <a:solidFill>
                  <a:srgbClr val="1D2F6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Выбор: CNN-LSTM как основной анализатор + XGBoost как параллельная табличная ветвь — рекомендуется гибридная конфигурация.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Подтверждение гипотез исследования</a:t>
            </a:r>
            <a:endParaRPr/>
          </a:p>
        </p:txBody>
      </p:sp>
      <p:sp>
        <p:nvSpPr>
          <p:cNvPr id="283" name="Google Shape;283;p28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8610" lvl="0" marL="457200" rtl="0" algn="l">
              <a:spcBef>
                <a:spcPts val="600"/>
              </a:spcBef>
              <a:spcAft>
                <a:spcPts val="0"/>
              </a:spcAft>
              <a:buSzPts val="1260"/>
              <a:buChar char="-"/>
            </a:pPr>
            <a:r>
              <a:rPr lang="ru-RU"/>
              <a:t>На табличных flow-данных XGBoost/RF лидируют по F1 (0.92). CNN-LSTM конкурентен по PR-AUC (0.96) и существенно лучше по latency. Согласуется с обзорами Ferrag 2020, Ahmad 2021.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rPr lang="ru-RU"/>
              <a:t>ИИ-злоумышленник (templates + FSM + drift) обеспечил воспроизводимое стресс-тестирование с ground-truth по 11 состояниям. Per-state recall и FPR измерены — недоступно при использовании только статических датасетов.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rPr lang="ru-RU"/>
              <a:t>CICIDS2017 распакован, mapping подмножества общих признаков с UNSW-NB15 зафиксирован. Полный прогон cross-evaluation — задача дальнейшего развития.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ts val="1260"/>
              <a:buChar char="-"/>
            </a:pPr>
            <a:r>
              <a:t/>
            </a:r>
            <a:endParaRPr/>
          </a:p>
        </p:txBody>
      </p:sp>
      <p:sp>
        <p:nvSpPr>
          <p:cNvPr id="284" name="Google Shape;284;p28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Результаты текущего этапа</a:t>
            </a:r>
            <a:endParaRPr/>
          </a:p>
        </p:txBody>
      </p:sp>
      <p:sp>
        <p:nvSpPr>
          <p:cNvPr id="291" name="Google Shape;291;p29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1. Комплексное тестирование прототипа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Проведены 6 экспериментов (E1–E6), 22 запуска, 14 моделей.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Тесты на UNSW-NB15 (175 341 запись) + ИИ-злоумышленник (16 412 записей, 600 тиков).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2. Анализ эффективности методики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F1, PR-AUC, MCC, FPR, TTD; сравнение с 11 baselines; анализ FP/FN по 10 классам атак.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CNN-LSTM: F1 = 0.770, PR-AUC = 0.955, Precision = 0.97 на потоке агента.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Гипотеза H_aux подтверждена; H_main уточнена; drift-monitor сработал на всех 10 точках.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3. Оптимизация и доработка прототипа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Калибровка порога под FPR = 0.01; ECE снижен с 0.089 до 0.047.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Latency CNN-LSTM = 0.96 мс/окно (NFR-3 ≤ 50 мс — выполнен с запасом 52×).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Сформирована рекомендация гибридной конфигурации CNN-LSTM + XGBoost.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4. Подготовка итоговых материалов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</a:t>
            </a:r>
            <a:r>
              <a:rPr lang="ru-RU" sz="1600"/>
              <a:t>Отчет</a:t>
            </a:r>
            <a:r>
              <a:rPr lang="ru-RU" sz="1600"/>
              <a:t> НИР: 70 страниц по ГОСТ 7.32-2017, 21 таблица, 16 графиков, 45 источников.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Презентация защиты (23 слайда), демонстрационные материалы, рабочий прототип</a:t>
            </a:r>
            <a:endParaRPr sz="1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1600"/>
              <a:t>   (4230 строк Python, 26 YAML-конфигов, 9 модулей тестов).</a:t>
            </a:r>
            <a:endParaRPr sz="1600"/>
          </a:p>
        </p:txBody>
      </p:sp>
      <p:sp>
        <p:nvSpPr>
          <p:cNvPr id="292" name="Google Shape;292;p29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0"/>
          <p:cNvSpPr txBox="1"/>
          <p:nvPr>
            <p:ph type="title"/>
          </p:nvPr>
        </p:nvSpPr>
        <p:spPr>
          <a:xfrm>
            <a:off x="609600" y="274638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Основные результаты работы</a:t>
            </a:r>
            <a:endParaRPr/>
          </a:p>
        </p:txBody>
      </p:sp>
      <p:sp>
        <p:nvSpPr>
          <p:cNvPr id="299" name="Google Shape;299;p30"/>
          <p:cNvSpPr txBox="1"/>
          <p:nvPr>
            <p:ph idx="1" type="body"/>
          </p:nvPr>
        </p:nvSpPr>
        <p:spPr>
          <a:xfrm>
            <a:off x="609600" y="1600200"/>
            <a:ext cx="9956700" cy="487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5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1. </a:t>
            </a:r>
            <a:r>
              <a:rPr b="1" lang="ru-RU" sz="15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Теоретический анализ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Систематизированы 8 нейросетевых архитектур, 10 датасетов NIDS, 3 семейства подходов к моделированию атак. 45 верифицированных источников (IEEE, NDSS, NeurIPS, ICML, RFC, ГОСТ).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5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2. </a:t>
            </a:r>
            <a:r>
              <a:rPr b="1" lang="ru-RU" sz="15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Методика обнаружения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Pipeline обработки + CNN-LSTM + ИИ-злоумышленник (templates + FSM + drift) + drift-monitoring + alerting с severity ladder.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5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3. </a:t>
            </a:r>
            <a:r>
              <a:rPr b="1" lang="ru-RU" sz="15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Программная реализация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4230 строк Python (PyTorch, scikit-learn, XGBoost, FastAPI, Streamlit), 26 YAML-конфигов, 9 модулей юнит-тестов, 12 скриптов-точек входа.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5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4. </a:t>
            </a:r>
            <a:r>
              <a:rPr b="1" lang="ru-RU" sz="15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Эксперименты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ru-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Шесть экспериментов E1–E6, 22 запуска, 14 моделей. Реальные результаты на UNSW-NB15: XGBoost F1=0.92, CNN-LSTM F1=0.77, latency 0.96 мс.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ru-RU" sz="1500">
                <a:solidFill>
                  <a:srgbClr val="4062D7"/>
                </a:solidFill>
                <a:latin typeface="Roboto"/>
                <a:ea typeface="Roboto"/>
                <a:cs typeface="Roboto"/>
                <a:sym typeface="Roboto"/>
              </a:rPr>
              <a:t>  5. </a:t>
            </a:r>
            <a:r>
              <a:rPr b="1" lang="ru-RU" sz="1500">
                <a:solidFill>
                  <a:srgbClr val="1D2F6A"/>
                </a:solidFill>
                <a:latin typeface="Roboto"/>
                <a:ea typeface="Roboto"/>
                <a:cs typeface="Roboto"/>
                <a:sym typeface="Roboto"/>
              </a:rPr>
              <a:t>Соответствие ГОСТ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ru-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Отчет</a:t>
            </a:r>
            <a:r>
              <a:rPr lang="ru-RU" sz="12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 оформлен по ГОСТ 7.32-2017 на 70 страниц, библиография по ГОСТ Р 7.0.100-2018 (biblatex-gost), все требования FR-1…FR-10 реализованы.</a:t>
            </a:r>
            <a:endParaRPr/>
          </a:p>
        </p:txBody>
      </p:sp>
      <p:sp>
        <p:nvSpPr>
          <p:cNvPr id="300" name="Google Shape;300;p30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1"/>
          <p:cNvSpPr txBox="1"/>
          <p:nvPr>
            <p:ph type="title"/>
          </p:nvPr>
        </p:nvSpPr>
        <p:spPr>
          <a:xfrm>
            <a:off x="576150" y="291363"/>
            <a:ext cx="9956700" cy="1143000"/>
          </a:xfrm>
          <a:prstGeom prst="rect">
            <a:avLst/>
          </a:prstGeom>
        </p:spPr>
        <p:txBody>
          <a:bodyPr anchorCtr="1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Ссылка на проект</a:t>
            </a:r>
            <a:endParaRPr/>
          </a:p>
        </p:txBody>
      </p:sp>
      <p:sp>
        <p:nvSpPr>
          <p:cNvPr id="307" name="Google Shape;307;p31"/>
          <p:cNvSpPr txBox="1"/>
          <p:nvPr>
            <p:ph idx="12" type="sldNum"/>
          </p:nvPr>
        </p:nvSpPr>
        <p:spPr>
          <a:xfrm>
            <a:off x="10974388" y="6092825"/>
            <a:ext cx="522300" cy="522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308" name="Google Shape;308;p31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9350" y="1240850"/>
            <a:ext cx="5374276" cy="537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Them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